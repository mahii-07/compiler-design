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2205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5260251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8326594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71754371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324800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3874929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45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4930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43836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8F08E6-32F0-5769-B5F6-525CA05539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F09CD8-D5FF-AADF-6DD9-3BE6954258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D44B84-7378-6629-7B02-BCF8BC3FEC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C071E6-E873-506A-2121-994C121A9D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2661A2-5348-EADD-D150-3E2DEAF510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92C10-FF8E-98A8-E080-421B96F7F0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E44238-A066-AD49-80F2-125487F166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1F2282-053F-3D75-2693-C4CEE00795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278B-4589-BBE8-E06E-698AB6A57B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D1884-EADF-35AE-3423-45B3446E9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C2E745-C026-3988-A4D4-20BEF10F49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36737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208456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9010681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528963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58695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1486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357278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661460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423344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49722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1929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9548134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7527906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220550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89132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1721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536589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0527988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4875965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529095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625525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7984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436000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27678951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378956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51187599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5873138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69688241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7955992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3052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345596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3597030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86185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05999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0685796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581217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61189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4964126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885375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180919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3273887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803611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5542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3253083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3097494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633138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680598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35673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9688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9733066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806863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749448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32358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3055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0162405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66018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562080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822413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3966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8311061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7863606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5421496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89687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23267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89239" y="743732"/>
            <a:ext cx="9144000" cy="536270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endParaRPr lang="en-GB"/>
          </a:p>
          <a:p>
            <a:pPr marL="2400300" lvl="6" indent="0">
              <a:buFont typeface="Arial"/>
              <a:buNone/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400300" lvl="6" indent="0">
              <a:buFont typeface="Arial"/>
              <a:buNone/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BAHIR DAR UNIVERSIT</a:t>
            </a: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 </a:t>
            </a: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</a:t>
            </a: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Faculty of computing </a:t>
            </a: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lang="en-GB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Science </a:t>
            </a:r>
            <a:endParaRPr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3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   </a:t>
            </a:r>
            <a:r>
              <a:rPr lang="en-GB" sz="3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Course:Compiler Design</a:t>
            </a:r>
            <a:endParaRPr sz="2400"/>
          </a:p>
          <a:p>
            <a:pPr lvl="0">
              <a:defRPr/>
            </a:pPr>
            <a:endParaRPr lang="en-GB"/>
          </a:p>
        </p:txBody>
      </p:sp>
      <p:pic>
        <p:nvPicPr>
          <p:cNvPr id="16334864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415205" y="743732"/>
            <a:ext cx="7737431" cy="3001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8750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800100" lvl="2" indent="0">
              <a:buFont typeface="Arial"/>
              <a:buNone/>
              <a:defRPr/>
            </a:pPr>
            <a:endParaRPr sz="2800">
              <a:latin typeface="Times New Roman"/>
              <a:ea typeface="Times New Roman"/>
              <a:cs typeface="Times New Roman"/>
            </a:endParaRPr>
          </a:p>
          <a:p>
            <a:pPr marL="800100" lvl="2" indent="0">
              <a:buFont typeface="Arial"/>
              <a:buNone/>
              <a:defRPr/>
            </a:pPr>
            <a:endParaRPr lang="en-GB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800100" lvl="2" indent="0">
              <a:buFont typeface="Arial"/>
              <a:buNone/>
              <a:defRPr/>
            </a:pPr>
            <a:endParaRPr lang="en-GB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800100" lvl="2" indent="0">
              <a:buFont typeface="Arial"/>
              <a:buNone/>
              <a:defRPr/>
            </a:pPr>
            <a:endParaRPr lang="en-GB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800100" lvl="2" indent="0">
              <a:buFont typeface="Arial"/>
              <a:buNone/>
              <a:defRPr/>
            </a:pPr>
            <a:endParaRPr lang="en-GB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Individual Assignment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:Assignment 03</a:t>
            </a:r>
            <a:endParaRPr lang="en-GB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Name :Mahlet kasahun</a:t>
            </a:r>
            <a:endParaRPr sz="2800"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ID:BDU1411427</a:t>
            </a:r>
            <a:endParaRPr sz="2800">
              <a:latin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Student No: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1824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is a parse table and how is it used in parsing?</a:t>
            </a:r>
            <a:endParaRPr/>
          </a:p>
        </p:txBody>
      </p:sp>
      <p:sp>
        <p:nvSpPr>
          <p:cNvPr id="10544057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parse table is a two-dimensional data structure used in predictive parsing algorithms  (particularly LL(1) parsing) to determine which production rule to apply based on the  current non-terminal symbol and the next input token (lookahead). 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 of a Parse Table: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Rows: Represent non-terminal symbols of the grammar  ·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Columns: Represent terminal symbols (including end-of-input marker $)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Cells: Contain production rules to apply or error entries</a:t>
            </a:r>
            <a:r>
              <a:rPr sz="1800"/>
              <a:t>.</a:t>
            </a:r>
            <a:endParaRPr sz="1800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36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a Parse Table is Used in LL(1) Parsing:</a:t>
            </a:r>
            <a:endParaRPr/>
          </a:p>
        </p:txBody>
      </p:sp>
      <p:sp>
        <p:nvSpPr>
          <p:cNvPr id="13785865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Initialization: The parser stack starts with the start symbol and the end marker ($)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Table Lookup: At each step, the parser:     ·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Checks the top of the stack (non-terminal)   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Examines the current input token (lookahead) 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Looks up the corresponding cell in the parse table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Action Execution:</a:t>
            </a:r>
            <a:endParaRPr sz="1800"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cell contains a production rule: Pop the non-terminal, push the right-hand side  of the production in   reverse order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cell is empty: Report a syntax error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top of stack matches the input token: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Pop both (match operation)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0705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463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Termination: Parsing succeeds when both stack and input are empty (only $ remains)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Example:  For grammar: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 → T E'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E' → + T E' | ε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 → F T'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T' → * F T' | ε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 → ( E ) | id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260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simplified parse table   </a:t>
            </a:r>
            <a:endParaRPr/>
          </a:p>
        </p:txBody>
      </p:sp>
      <p:sp>
        <p:nvSpPr>
          <p:cNvPr id="9167879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446068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19075" y="1487465"/>
            <a:ext cx="10216540" cy="4879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1722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Properties:</a:t>
            </a:r>
            <a:endParaRPr/>
          </a:p>
        </p:txBody>
      </p:sp>
      <p:sp>
        <p:nvSpPr>
          <p:cNvPr id="45142333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Deterministic: Each cell contains at most one production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Predictive: Tells exactly which rule to apply without backtracking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LL(1) Condition: The table must have no conflicts (no cell with multiple entries)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Advantages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Fast parsing (O(n) time complexity)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No backtracking needed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Clear error detection    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Limitations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Only works for LL(1) grammars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Table construction can be complex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 tables for grammars with many symbols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4738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417751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C++ implementation to check balance parentheses  </a:t>
            </a:r>
            <a:endParaRPr/>
          </a:p>
        </p:txBody>
      </p:sp>
      <p:sp>
        <p:nvSpPr>
          <p:cNvPr id="87017765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4193" y="782876"/>
            <a:ext cx="10515600" cy="59498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#include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using namespace std;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int main() {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string expression;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cout &lt;&lt; "Enter an expression with parentheses: ";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getline(cin, expression);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int count = 0;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for (char ch : expression) {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if (ch == '(') {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count++;  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cout &lt;&lt; "Found '(' → Count is now: " &lt;&lt; count &lt;&lt; endl;   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}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else if (ch == ')') {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count--;  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cout &lt;&lt; "Found ')' → Count is now: "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&lt;&lt; count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&lt;&lt; endl;              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if (count &lt; 0) {   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cout &lt;&lt; "ERROR: Too many closing parentheses!\n";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break;       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}  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}  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58102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274006"/>
            <a:ext cx="10515600" cy="59029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if (count == 0) {  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cout &lt;&lt; "\n Perfect! All parentheses are balanced!\n";      }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else if (count &gt; 0) {  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cout &lt;&lt; "\n Oops! You have " &lt;&lt; count &lt;&lt; " unclosed parenthesis(es)\n";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}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return 0;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}</a:t>
            </a:r>
            <a:endParaRPr sz="1800"/>
          </a:p>
          <a:p>
            <a:pPr marL="0" indent="0">
              <a:buFont typeface="Arial"/>
              <a:buNone/>
              <a:defRPr/>
            </a:pPr>
            <a:endParaRPr sz="1800"/>
          </a:p>
          <a:p>
            <a:pPr marL="0" indent="0">
              <a:buFont typeface="Arial"/>
              <a:buNone/>
              <a:defRPr/>
            </a:pPr>
            <a:endParaRPr sz="1800"/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Problem-Solving Task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Grammar: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 → 0S1 | 01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Draw the parse tree for "0011"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Step 1: Derivation Process</a:t>
            </a:r>
            <a:endParaRPr sz="1800"/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string "0011" can be derived as: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1. S → 0S1  (first production)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2. → 0(01)1  (apply second production to S)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3. → 0011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269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2: Parse Tree Construction</a:t>
            </a:r>
            <a:endParaRPr/>
          </a:p>
        </p:txBody>
      </p:sp>
      <p:sp>
        <p:nvSpPr>
          <p:cNvPr id="608173574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2047439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  </a:t>
            </a:r>
            <a:r>
              <a:rPr sz="1800"/>
              <a:t> 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S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/|\  </a:t>
            </a:r>
            <a:endParaRPr sz="1800"/>
          </a:p>
          <a:p>
            <a:pPr marL="0" indent="0">
              <a:buFont typeface="Arial"/>
              <a:buNone/>
              <a:defRPr/>
            </a:pPr>
            <a:r>
              <a:rPr sz="1800"/>
              <a:t>         </a:t>
            </a:r>
            <a:r>
              <a:rPr lang="en-GB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/|\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0  S  1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|  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0S1  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/|\ 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/ | \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0  S  1 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|      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01 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7070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443847"/>
          </a:xfrm>
        </p:spPr>
        <p:txBody>
          <a:bodyPr/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Alternative visual representation (text-based): </a:t>
            </a:r>
            <a:endParaRPr/>
          </a:p>
        </p:txBody>
      </p:sp>
      <p:sp>
        <p:nvSpPr>
          <p:cNvPr id="142955802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887259"/>
            <a:ext cx="10515600" cy="52897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    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/ | \     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  S  1   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/|\   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0 S 1  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|</a:t>
            </a:r>
            <a:endParaRPr sz="1500"/>
          </a:p>
          <a:p>
            <a:pPr marL="0" indent="0">
              <a:buFont typeface="Arial"/>
              <a:buNone/>
              <a:defRPr/>
            </a:pPr>
            <a:r>
              <a:rPr sz="1500"/>
              <a:t>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 </a:t>
            </a:r>
            <a:endParaRPr sz="1500"/>
          </a:p>
          <a:p>
            <a:pPr marL="0" indent="0">
              <a:buFont typeface="Arial"/>
              <a:buNone/>
              <a:defRPr/>
            </a:pPr>
            <a:endParaRPr sz="1500"/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3: Step-by-step explanation: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Root is S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Apply rule S → 0S1:  ·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Left child: terminal '0'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Middle child: non-terminal S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Right child: terminal '1'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3. For the middle S, apply rule S → 01: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Left child: terminal '0'  </a:t>
            </a:r>
            <a:endParaRPr sz="1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Right child: terminal '1'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0792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4: Verification: </a:t>
            </a:r>
            <a:endParaRPr/>
          </a:p>
        </p:txBody>
      </p:sp>
      <p:sp>
        <p:nvSpPr>
          <p:cNvPr id="18689532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Pre-order traversal of leaves: 0, 0, 1, 1 = "0011"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tree correctly represents the derivation: </a:t>
            </a:r>
            <a:endParaRPr sz="1800" b="0" i="0" u="none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 → 0S1 → 0(01)1 → 0011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2026-01-18T16:33:02Z</dcterms:modified>
</cp:coreProperties>
</file>